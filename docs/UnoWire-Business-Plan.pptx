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1A2332"/>
                </a:solidFill>
                <a:latin typeface="Georgia"/>
              </a:rPr>
              <a:t>全球线缆市场规模预测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市场规模（亿美元）</c:v>
                </c:pt>
              </c:strCache>
            </c:strRef>
          </c:tx>
          <c:spPr>
            <a:solidFill>
              <a:srgbClr val="1A5694"/>
            </a:solidFill>
            <a:ln w="38100" cap="flat">
              <a:solidFill>
                <a:srgbClr val="1A56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5694"/>
              </a:solidFill>
              <a:ln w="9525" cap="flat">
                <a:solidFill>
                  <a:srgbClr val="1A56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  <c:pt idx="7">
                    <c:v>2031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4223</c:v>
                </c:pt>
                <c:pt idx="1">
                  <c:v>4405</c:v>
                </c:pt>
                <c:pt idx="2">
                  <c:v>4594</c:v>
                </c:pt>
                <c:pt idx="3">
                  <c:v>4791</c:v>
                </c:pt>
                <c:pt idx="4">
                  <c:v>4997</c:v>
                </c:pt>
                <c:pt idx="5">
                  <c:v>5212</c:v>
                </c:pt>
                <c:pt idx="6">
                  <c:v>5436</c:v>
                </c:pt>
                <c:pt idx="7">
                  <c:v>5696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332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1A2332"/>
                </a:solidFill>
                <a:latin typeface="Georgia"/>
              </a:rPr>
              <a:t>资金用途分配（万元）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94"/>
              </a:solidFill>
              <a:effectLst/>
            </c:spPr>
          </c:dPt>
          <c:dPt>
            <c:idx val="1"/>
            <c:bubble3D val="0"/>
            <c:spPr>
              <a:solidFill>
                <a:srgbClr val="0E7C5A"/>
              </a:solidFill>
              <a:effectLst/>
            </c:spPr>
          </c:dPt>
          <c:dPt>
            <c:idx val="2"/>
            <c:bubble3D val="0"/>
            <c:spPr>
              <a:solidFill>
                <a:srgbClr val="7C8DB5"/>
              </a:solidFill>
              <a:effectLst/>
            </c:spPr>
          </c:dPt>
          <c:dPt>
            <c:idx val="3"/>
            <c:bubble3D val="0"/>
            <c:spPr>
              <a:solidFill>
                <a:srgbClr val="C4A35A"/>
              </a:solidFill>
              <a:effectLst/>
            </c:spPr>
          </c:dPt>
          <c:dPt>
            <c:idx val="4"/>
            <c:bubble3D val="0"/>
            <c:spPr>
              <a:solidFill>
                <a:srgbClr val="B0B8C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产品研发 40%</c:v>
                </c:pt>
                <c:pt idx="1">
                  <c:v>市场推广 30%</c:v>
                </c:pt>
                <c:pt idx="2">
                  <c:v>团队薪酬 20%</c:v>
                </c:pt>
                <c:pt idx="3">
                  <c:v>服务器 6%</c:v>
                </c:pt>
                <c:pt idx="4">
                  <c:v>备用金 4%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120</c:v>
                </c:pt>
                <c:pt idx="1">
                  <c:v>90</c:v>
                </c:pt>
                <c:pt idx="2">
                  <c:v>60</c:v>
                </c:pt>
                <c:pt idx="3">
                  <c:v>18</c:v>
                </c:pt>
                <c:pt idx="4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332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1A2332"/>
                </a:solidFill>
                <a:latin typeface="Georgia"/>
              </a:rPr>
              <a:t>三年收入预测（万元）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Portal 订阅</c:v>
                </c:pt>
              </c:strCache>
            </c:strRef>
          </c:tx>
          <c:spPr>
            <a:solidFill>
              <a:srgbClr val="1A56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150</c:v>
                </c:pt>
                <c:pt idx="2">
                  <c:v>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优先展示</c:v>
                </c:pt>
              </c:strCache>
            </c:strRef>
          </c:tx>
          <c:spPr>
            <a:solidFill>
              <a:srgbClr val="0E7C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60</c:v>
                </c:pt>
                <c:pt idx="2">
                  <c:v>180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询盘佣金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40</c:v>
                </c:pt>
                <c:pt idx="2">
                  <c:v>150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C4A3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</c:v>
                </c:pt>
                <c:pt idx="1">
                  <c:v>50</c:v>
                </c:pt>
                <c:pt idx="2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694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0E7C5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UnoWire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全球线缆与连接器 B2B 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商业计划书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8 月  |  V1.0  |  机密</a:t>
            </a:r>
            <a:endParaRPr lang="en-US" sz="1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2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执行摘要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公司概述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054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市场分析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638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163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产品与服务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822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847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市场策略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25054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5054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运营计划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1638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163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财务计划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22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822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风险与对策</a:t>
            </a:r>
            <a:endParaRPr lang="en-US" sz="15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执行摘要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UnoWire 是面向全球线缆与连接器行业的 B2B 平台，通过结构化产品目录、厂商自助 Portal 和智能匹配引擎，连接制造商与采购方。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5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4,223 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全球线缆市场（美元）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50" kern="0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6032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市场复合年增长率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50" kern="0" dirty="0">
                <a:solidFill>
                  <a:srgbClr val="256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产品模块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50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2514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路由模块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E8F0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1097280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9300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融资需求：</a:t>
            </a:r>
            <a:pPr algn="l" indent="0" marL="0">
              <a:buNone/>
            </a:pPr>
            <a:r>
              <a:rPr lang="en-US" sz="14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万元天使轮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（出让 15% 股权，投后估值 2,000 万元）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用于平台上线运营、首批制造商拓展和市场营销启动，预计第 18 个月实现盈亏平衡</a:t>
            </a:r>
            <a:endParaRPr lang="en-US" sz="14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公司概述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使命与愿景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构建全球线缆行业的数字化贸易基础设施，成为线缆与连接器行业的领先 B2B 平台。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四大用户系统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1920240" cy="54864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公开站点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线缆目录、设备推荐、厂商主页、询盘提交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4688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468880"/>
            <a:ext cx="1920240" cy="54864"/>
          </a:xfrm>
          <a:prstGeom prst="rect">
            <a:avLst/>
          </a:prstGeom>
          <a:solidFill>
            <a:srgbClr val="0E7C5A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管理后台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 CRUD、RBAC 权限、菜单配置、CMS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468880"/>
            <a:ext cx="1920240" cy="54864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 Portal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制造商自助管理产品、回复询盘、媒体管理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4688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468880"/>
            <a:ext cx="1920240" cy="54864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会员系统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个人资料、询盘收件箱、消息通知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389120" y="10972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市场分析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全球线缆市场规模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年全球电缆线市场总收入 </a:t>
            </a:r>
            <a:pPr algn="l" indent="0" marL="0">
              <a:buNone/>
            </a:pPr>
            <a:r>
              <a:rPr lang="en-US" sz="13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4,223 亿美元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 2031 年达到 </a:t>
            </a:r>
            <a:pPr algn="l" indent="0" marL="0">
              <a:buNone/>
            </a:pPr>
            <a:r>
              <a:rPr lang="en-US" sz="13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5,696 亿美元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复合年增长率 </a:t>
            </a:r>
            <a:pPr algn="l" indent="0" marL="0">
              <a:buNone/>
            </a:pPr>
            <a:r>
              <a:rPr lang="en-US" sz="13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增长驱动力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数据中心建设潮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全球能源转型与可再生能源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电动汽车充电网络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网络部署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工业自动化升级</a:t>
            </a:r>
            <a:endParaRPr lang="en-US" sz="11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产品与服务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三大产品模块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Cable（线缆）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高复杂度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多变体规格 + 类型化规格表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级分类体系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品牌管理 + 批量导入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0E7C5A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Equipment（设备）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中复杂度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适用规格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线缆匹配推荐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级自引用分类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Terminal（端子接头）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中复杂度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与设备结构一致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线缆匹配接口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镜像分类体系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456432"/>
            <a:ext cx="109728" cy="109728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厂商认领系统 — 公开搜索 + 申请 + 审核闭环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456432"/>
            <a:ext cx="109728" cy="109728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383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询盘与消息 — 双向沟通 + 未读计数 + 邮件通知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749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设备智能匹配 — 基于线缆规格自动推荐配套设备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822192"/>
            <a:ext cx="109728" cy="109728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49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批量导入 — CSV/JSON 模板 + 预览校验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187952"/>
            <a:ext cx="109728" cy="109728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14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权限 — 15 模块 + 制造商作用域数据隔离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4187952"/>
            <a:ext cx="109728" cy="109728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114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媒体管理 — 文件夹树 + 图片上传 + Docker 卷存储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商业模式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E8F0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核心价值：</a:t>
            </a:r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结构化产品数据库 + 自助管理工具 + 精准匹配引擎，三位一体的线缆行业 B2B 平台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六大收入来源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收入来源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定价模式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启动时间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订阅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年费制：基础/专业/企业版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6 个月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优先展示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按点击付费（CPC）或排位费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9 个月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询盘撮合费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成功订单佣金 3-5%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12 个月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认证标识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年费制，「已验证制造商」徽章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9 个月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广告位 + 数据报告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月费横幅 / 按报告付费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12-18 个月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定价策略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45262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526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基础版（免费） 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773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≤20 产品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91840" y="45262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4526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专业版  </a:t>
            </a:r>
            <a:pPr algn="l" indent="0" marL="0">
              <a:buNone/>
            </a:pPr>
            <a:r>
              <a:rPr lang="en-US" sz="10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¥9,800/年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83280" y="4773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≤500 产品 + 批量导入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452628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4526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企业版  </a:t>
            </a:r>
            <a:pPr algn="l" indent="0" marL="0">
              <a:buNone/>
            </a:pPr>
            <a:r>
              <a:rPr lang="en-US" sz="10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¥29,800/年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4773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不限 + API + 多用户</a:t>
            </a:r>
            <a:endParaRPr lang="en-US" sz="9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选型理由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16 + React 19 + TypeScript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Router SSR/ISR + SEO 友好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0.115 + SQLAlchemy 2.0 (async)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异步高性能 + 自动 OpenAPI 文档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(asyncpg)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 支持 + 全文搜索 + ACID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认证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三令牌体系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员工/Portal/会员独立令牌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+ Nginx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一键部署 + 反向代理 + HTTPS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架构亮点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0873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代理模式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436168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cookie 转 Bearer，令牌不暴露于浏览器 JS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0" y="39776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0048" y="40873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多租户数据隔离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70048" y="436168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scope_type + scope_id 实现制造商间数据隔离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39776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3168" y="40873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 API 客户端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73168" y="436168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层客户端，针对场景优化缓存策略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39776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6288" y="40873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可扩展模块体系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76288" y="436168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管理模块 + 45 API 路由，支持快速扩展</a:t>
            </a:r>
            <a:endParaRPr lang="en-US" sz="9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市场策略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三阶段冷启动策略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377440" cy="73152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1-3 个月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数据先行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主动导入公开产品数据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5,000+ 产品目录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邀请 20-30 家头部制造商免费入驻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237744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146304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45160000" dist="322580000" dir="972000000000">
              <a:srgbClr val="000000">
                <a:alpha val="15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63040"/>
            <a:ext cx="2377440" cy="73152"/>
          </a:xfrm>
          <a:prstGeom prst="rect">
            <a:avLst/>
          </a:prstGeom>
          <a:solidFill>
            <a:srgbClr val="0E7C5A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3-6 个月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847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获客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+ JSON-LD 结构化数据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长尾关键词优化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目标月均自然流量 20,000 UV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37744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9360" y="146304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193532000000" dist="4096766000000" dir="58320000000000000">
              <a:srgbClr val="000000">
                <a:alpha val="1500000000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63040"/>
            <a:ext cx="2377440" cy="7315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 6-12 个月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1847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厂商认领与付费转化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邀请制造商认领企业主页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从免费版转化为付费订阅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200 家活跃 + 30 家付费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E6F4E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0E7C5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竞争壁垒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结构化数据深度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多变体规格 + 3 级分类，通用平台难以复制   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制造商粘性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产品目录与询盘积累形成高迁移成本   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网络效应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制造商越多 → 采购方越多 → 吸引更多制造商</a:t>
            </a:r>
            <a:endParaRPr lang="en-US" sz="11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运营计划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团队规划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启动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创始人 /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全栈工程师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运营经理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2 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内容/SEO 专员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3 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销售代表 x2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6 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389120" y="1051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发展路线图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46320" y="1508760"/>
            <a:ext cx="22860" cy="32186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4800600" y="1490472"/>
            <a:ext cx="118872" cy="118872"/>
          </a:xfrm>
          <a:prstGeom prst="ellipse">
            <a:avLst/>
          </a:prstGeom>
          <a:solidFill>
            <a:srgbClr val="1A56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0" y="1655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上线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三大模块完成 + 种子数据 + 5 家内测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2057400"/>
            <a:ext cx="118872" cy="118872"/>
          </a:xfrm>
          <a:prstGeom prst="ellipse">
            <a:avLst/>
          </a:prstGeom>
          <a:solidFill>
            <a:srgbClr val="1A56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984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公测与冷启动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5,000+ 产品 + 20 家制造商入驻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00600" y="2624328"/>
            <a:ext cx="118872" cy="118872"/>
          </a:xfrm>
          <a:prstGeom prst="ellipse">
            <a:avLst/>
          </a:prstGeom>
          <a:solidFill>
            <a:srgbClr val="1A56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551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付费体系上线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三档定价 + 50 家付费制造商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00600" y="3191256"/>
            <a:ext cx="118872" cy="118872"/>
          </a:xfrm>
          <a:prstGeom prst="ellipse">
            <a:avLst/>
          </a:prstGeom>
          <a:solidFill>
            <a:srgbClr val="1A56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3118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询盘撮合佣金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月均 1,000+ 询盘 + 佣金收入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00600" y="3758184"/>
            <a:ext cx="118872" cy="118872"/>
          </a:xfrm>
          <a:prstGeom prst="ellipse">
            <a:avLst/>
          </a:prstGeom>
          <a:solidFill>
            <a:srgbClr val="1A56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3685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Q3-Q4 2027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规模化与盈利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500 家制造商 + 月收 30 万 + 盈亏平衡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00600" y="4325112"/>
            <a:ext cx="118872" cy="118872"/>
          </a:xfrm>
          <a:prstGeom prst="ellipse">
            <a:avLst/>
          </a:prstGeom>
          <a:solidFill>
            <a:srgbClr val="1A56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0" y="4251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9200" y="4489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国际化与 A 轮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多语言 + 东南亚 + A 轮融资</a:t>
            </a:r>
            <a:endParaRPr lang="en-US" sz="10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41732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4572000" y="1417320"/>
          <a:ext cx="4297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5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财务计划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1A56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融资需求：300 万元天使轮（出让 15%，投后估值 2,000 万元）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6F4EF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4572000"/>
            <a:ext cx="73152" cy="457200"/>
          </a:xfrm>
          <a:prstGeom prst="rect">
            <a:avLst/>
          </a:prstGeom>
          <a:solidFill>
            <a:srgbClr val="0E7C5A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盈亏平衡：</a:t>
            </a:r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 2028 年 Q3 实现月度盈亏平衡，2029 年全年净利润约 430 万元，净利润率 47%</a:t>
            </a:r>
            <a:endParaRPr lang="en-US" sz="11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73152" cy="566928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A5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algn="l" indent="0" marL="0">
              <a:buNone/>
            </a:pPr>
            <a:r>
              <a:rPr lang="en-US" sz="32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风险与对策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4008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应对策略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9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制造商入驻意愿低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 50 家免费入驻 + 数据录入服务；SEO 先吸流量再反引制造商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综合 B2B 平台推出垂直频道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A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深耕结构化数据深度；Portal 系统提高迁移成本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平台性能瓶颈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A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异步架构 + SSR 缓存 + CDN；PostgreSQL 读写分离 + Docker 水平扩展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跨境数据合规（GDPR 等）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A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数据存储于合规云区域；Cookie 令牌不含敏感信息；最小化收集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现金流断裂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保持 6 个月现金储备；分阶段投入推广；根据转化动态调整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行业+技术复合人才稀缺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创始人双重背景；远程协作扩大人才池；行业顾问网络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F9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1A569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480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5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总结：</a:t>
            </a:r>
            <a:pPr algn="l"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UnoWire 立足 4,000 亿美元全球市场，MVP 已完成，通过本轮融资将在 18 个月内实现盈亏平衡。</a:t>
            </a:r>
            <a:endParaRPr lang="en-US" sz="11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694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0"/>
            <a:ext cx="2743200" cy="54864"/>
          </a:xfrm>
          <a:prstGeom prst="rect">
            <a:avLst/>
          </a:prstGeom>
          <a:solidFill>
            <a:srgbClr val="0E7C5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spc="100" kern="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UnoWire — 全球线缆与连接器 B2B 平台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期待与您携手，共建线缆行业数字贸易新基建</a:t>
            </a:r>
            <a:endParaRPr lang="en-US" sz="13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UnoWire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UnoWire 商业计划书</dc:title>
  <dc:subject>PptxGenJS Presentation</dc:subject>
  <dc:creator>UnoWire</dc:creator>
  <cp:lastModifiedBy>UnoWire</cp:lastModifiedBy>
  <cp:revision>1</cp:revision>
  <dcterms:created xsi:type="dcterms:W3CDTF">2026-08-02T15:47:50Z</dcterms:created>
  <dcterms:modified xsi:type="dcterms:W3CDTF">2026-08-02T15:47:50Z</dcterms:modified>
</cp:coreProperties>
</file>